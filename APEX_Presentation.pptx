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B1F3A"/>
                </a:solidFill>
                <a:latin typeface="Arial"/>
              </a:rPr>
              <a:t>Test R² by Model (higher =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MLR</c:v>
                  </c:pt>
                  <c:pt idx="1">
                    <c:v>SVR</c:v>
                  </c:pt>
                  <c:pt idx="2">
                    <c:v>KNN</c:v>
                  </c:pt>
                  <c:pt idx="3">
                    <c:v>RF</c:v>
                  </c:pt>
                  <c:pt idx="4">
                    <c:v>ADA</c:v>
                  </c:pt>
                  <c:pt idx="5">
                    <c:v>DT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0.9641</c:v>
                </c:pt>
                <c:pt idx="1">
                  <c:v>0.9635</c:v>
                </c:pt>
                <c:pt idx="2">
                  <c:v>0.9577</c:v>
                </c:pt>
                <c:pt idx="3">
                  <c:v>0.9572</c:v>
                </c:pt>
                <c:pt idx="4">
                  <c:v>0.9519</c:v>
                </c:pt>
                <c:pt idx="5">
                  <c:v>0.9347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B1F3A"/>
                </a:solidFill>
                <a:latin typeface="Arial"/>
              </a:rPr>
              <a:t>Test MAE in Kelvin (lower =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(K)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6BB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5D6A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MLR</c:v>
                  </c:pt>
                  <c:pt idx="1">
                    <c:v>SVR</c:v>
                  </c:pt>
                  <c:pt idx="2">
                    <c:v>RF</c:v>
                  </c:pt>
                  <c:pt idx="3">
                    <c:v>KNN</c:v>
                  </c:pt>
                  <c:pt idx="4">
                    <c:v>ADA</c:v>
                  </c:pt>
                  <c:pt idx="5">
                    <c:v>DT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3.43</c:v>
                </c:pt>
                <c:pt idx="1">
                  <c:v>3.44</c:v>
                </c:pt>
                <c:pt idx="2">
                  <c:v>3.7</c:v>
                </c:pt>
                <c:pt idx="3">
                  <c:v>3.77</c:v>
                </c:pt>
                <c:pt idx="4">
                  <c:v>3.97</c:v>
                </c:pt>
                <c:pt idx="5">
                  <c:v>4.45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manogna210524.github.io/Aerodynamic-Heating-on-Satellite-Solar-Panel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manogna210524.github.io/Aerodynamic-Heating-on-Satellite-Solar-Panel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457200"/>
            <a:ext cx="100584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57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APEX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8869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Learning–Based Prediction of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Heating 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Solar Panels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411480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78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Course Project  |  2025–26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971800"/>
            <a:ext cx="5120640" cy="1417320"/>
          </a:xfrm>
          <a:prstGeom prst="rect">
            <a:avLst/>
          </a:prstGeom>
          <a:solidFill>
            <a:srgbClr val="132A4A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17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APEX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/ ANSYS: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Ramaraju  &amp;  Sri Varsha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6301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Validation: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Manogna  &amp;  Praneetha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9227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INTRODUCTION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Thermal Prediction for Satellite Solar Panels?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2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3840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88720"/>
            <a:ext cx="54864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261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Environment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" y="1508760"/>
            <a:ext cx="36576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orbit at ~400–2,000 km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~7.5 km/s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irradiance: 1,000–1,400 W/m²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atmospheric filtering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3840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377440"/>
            <a:ext cx="54864" cy="10515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450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Convection in Space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2697480"/>
            <a:ext cx="36576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environment → zero convective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transfer. Only conduction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can remove heat from panel.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3840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566160"/>
            <a:ext cx="54864" cy="10515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3639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Thermal Load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" y="3886200"/>
            <a:ext cx="36576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absorbs 80–85% of solar energy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heat. Silicon cells lose ~0.45%/K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above 298 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188720"/>
            <a:ext cx="4206240" cy="3520440"/>
          </a:xfrm>
          <a:prstGeom prst="rect">
            <a:avLst/>
          </a:prstGeom>
          <a:solidFill>
            <a:srgbClr val="0B1F3A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280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TRANSFER IN ORBIT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719072"/>
            <a:ext cx="54864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7190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Flux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W/m²  input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377440"/>
            <a:ext cx="54864" cy="42062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5786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panel layers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035808"/>
            <a:ext cx="54864" cy="42062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035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2369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heat escape path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694176"/>
            <a:ext cx="54864" cy="42062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941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38953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— vacuum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315968"/>
            <a:ext cx="374904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Accurate thermal prediction is critical for reliability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3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8321040" cy="1005840"/>
          </a:xfrm>
          <a:prstGeom prst="rect">
            <a:avLst/>
          </a:prstGeom>
          <a:solidFill>
            <a:srgbClr val="132A4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73152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solar irradiation (W/m²) and ambient temperature (K), predict the maximum temperature of a satellite solar panel — without running a full CFD simulation.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487168"/>
            <a:ext cx="2606040" cy="1554480"/>
          </a:xfrm>
          <a:prstGeom prst="rect">
            <a:avLst/>
          </a:prstGeom>
          <a:solidFill>
            <a:srgbClr val="1A356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87168"/>
            <a:ext cx="26060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is accurate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316382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simulation = hours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100s of runs for ML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2487168"/>
            <a:ext cx="2606040" cy="1554480"/>
          </a:xfrm>
          <a:prstGeom prst="rect">
            <a:avLst/>
          </a:prstGeom>
          <a:solidFill>
            <a:srgbClr val="1A356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487168"/>
            <a:ext cx="260604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convection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316382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is the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escape path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2487168"/>
            <a:ext cx="2606040" cy="1554480"/>
          </a:xfrm>
          <a:prstGeom prst="rect">
            <a:avLst/>
          </a:prstGeom>
          <a:solidFill>
            <a:srgbClr val="1A356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2487168"/>
            <a:ext cx="2606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efficiency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9048" y="316382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drops ~0.45%/K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298 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224528"/>
            <a:ext cx="832104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245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→  Train ML models as fast, accurate surrogates for CFD thermal simulation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OBJECTIVES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4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34440"/>
            <a:ext cx="50292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1289304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steady-state thermal simulation of multi-layer PV module in ANSYS under LEO conditions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1984248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984248"/>
            <a:ext cx="50292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842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2039112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temperature distribution and heat flux data to understand panel thermal behaviour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734056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734056"/>
            <a:ext cx="502920" cy="6217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3405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788920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6 ML regression models on a 1,757-sample solar dataset to predict panel max temperature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3483864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483864"/>
            <a:ext cx="502920" cy="6217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838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3538728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using CV R², Test R², MAE, and RMSE; identify best-performing model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4233672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233672"/>
            <a:ext cx="502920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3367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4288536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interactive web dashboard for real-time 3D prediction and model comparison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ANSYS SIMULATION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Analysis — ANSYS Setup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5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4114800" cy="347472"/>
          </a:xfrm>
          <a:prstGeom prst="rect">
            <a:avLst/>
          </a:prstGeom>
          <a:solidFill>
            <a:srgbClr val="90CAF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Tempered Glass (3.2 mm)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17720" y="1286561"/>
            <a:ext cx="4114800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1.0 W/m·K  |  ε = 0.90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1408176"/>
            <a:ext cx="91440" cy="0"/>
          </a:xfrm>
          <a:prstGeom prst="line">
            <a:avLst/>
          </a:prstGeom>
          <a:noFill/>
          <a:ln w="6350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581912"/>
            <a:ext cx="4114800" cy="347472"/>
          </a:xfrm>
          <a:prstGeom prst="rect">
            <a:avLst/>
          </a:prstGeom>
          <a:solidFill>
            <a:srgbClr val="FFF9C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5819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Encapsulant (0.5 mm)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634033"/>
            <a:ext cx="4114800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0.35 W/m·K  |  Transparent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26280" y="1755648"/>
            <a:ext cx="91440" cy="0"/>
          </a:xfrm>
          <a:prstGeom prst="line">
            <a:avLst/>
          </a:prstGeom>
          <a:noFill/>
          <a:ln w="6350">
            <a:solidFill>
              <a:srgbClr val="90A4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929384"/>
            <a:ext cx="4114800" cy="475488"/>
          </a:xfrm>
          <a:prstGeom prst="rect">
            <a:avLst/>
          </a:prstGeom>
          <a:solidFill>
            <a:srgbClr val="1565C0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29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Cells (0.2 mm)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7720" y="2000707"/>
            <a:ext cx="411480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148 W/m·K  |  α = 0.90  ← Heat source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2167128"/>
            <a:ext cx="91440" cy="0"/>
          </a:xfrm>
          <a:prstGeom prst="line">
            <a:avLst/>
          </a:prstGeom>
          <a:noFill/>
          <a:ln w="635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404872"/>
            <a:ext cx="4114800" cy="347472"/>
          </a:xfrm>
          <a:prstGeom prst="rect">
            <a:avLst/>
          </a:prstGeom>
          <a:solidFill>
            <a:srgbClr val="FFF9C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04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Encapsulant (0.5 mm)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2456993"/>
            <a:ext cx="4114800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0.35 W/m·K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26280" y="2578608"/>
            <a:ext cx="91440" cy="0"/>
          </a:xfrm>
          <a:prstGeom prst="line">
            <a:avLst/>
          </a:prstGeom>
          <a:noFill/>
          <a:ln w="6350">
            <a:solidFill>
              <a:srgbClr val="90A4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752344"/>
            <a:ext cx="4114800" cy="347472"/>
          </a:xfrm>
          <a:prstGeom prst="rect">
            <a:avLst/>
          </a:prstGeom>
          <a:solidFill>
            <a:srgbClr val="B0BEC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523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Backsheet (0.3 mm)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17720" y="2804465"/>
            <a:ext cx="4114800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0.2 W/m·K  |  ε = 0.85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26280" y="2926080"/>
            <a:ext cx="91440" cy="0"/>
          </a:xfrm>
          <a:prstGeom prst="line">
            <a:avLst/>
          </a:prstGeom>
          <a:noFill/>
          <a:ln w="6350">
            <a:solidFill>
              <a:srgbClr val="90A4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099816"/>
            <a:ext cx="4114800" cy="347472"/>
          </a:xfrm>
          <a:prstGeom prst="rect">
            <a:avLst/>
          </a:prstGeom>
          <a:solidFill>
            <a:srgbClr val="78909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0998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Frame (~30 mm)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3151937"/>
            <a:ext cx="4114800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160 W/m·K  |  Structural + heat spreader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26280" y="3273552"/>
            <a:ext cx="91440" cy="0"/>
          </a:xfrm>
          <a:prstGeom prst="line">
            <a:avLst/>
          </a:prstGeom>
          <a:noFill/>
          <a:ln w="6350">
            <a:solidFill>
              <a:srgbClr val="90A4A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1143000"/>
            <a:ext cx="4114800" cy="91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10058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 Solar flux: 1,000 W/m²  (top surface)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310128"/>
            <a:ext cx="4160520" cy="1417320"/>
          </a:xfrm>
          <a:prstGeom prst="rect">
            <a:avLst/>
          </a:prstGeom>
          <a:solidFill>
            <a:srgbClr val="0B1F3A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36499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365760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heat flux: 1,000 W/m² (top glass)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391363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to deep space: sink = 3 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09160" y="416966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convection (vacuum)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442569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type: Steady-State Thermal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SIM RESULTS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 Simulation 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6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029200" cy="3200400"/>
          </a:xfrm>
          <a:prstGeom prst="rect">
            <a:avLst/>
          </a:prstGeom>
          <a:solidFill>
            <a:srgbClr val="E8EDF2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887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Temperature Contour — ANSYS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temp at silicon cell centres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temp at frame edges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1234440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12527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Temp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0" y="144475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313–338 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23560" y="2039112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205740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5000" y="224942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layer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23560" y="2843784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15000" y="286207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path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0" y="305409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→ EVA → Si → Backsheet → Frame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23560" y="3703320"/>
            <a:ext cx="31089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3703320"/>
            <a:ext cx="54864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7307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39136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simulation = 1 data point.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100s of runs for ML training.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462272"/>
            <a:ext cx="5029200" cy="502920"/>
          </a:xfrm>
          <a:prstGeom prst="rect">
            <a:avLst/>
          </a:prstGeom>
          <a:solidFill>
            <a:srgbClr val="E8EDF2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4622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Figure: ANSYS Mesh — 1,640×992 mm panel, automatic sizing on silicon cells 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7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Machine Learning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move from CFD to ML?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4023360" cy="3383280"/>
          </a:xfrm>
          <a:prstGeom prst="rect">
            <a:avLst/>
          </a:prstGeom>
          <a:solidFill>
            <a:srgbClr val="132A4A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07008"/>
            <a:ext cx="40233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07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SIMULATION ALONE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simulation → only 1 data 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sweep → 100s of runs needed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= hours of compute 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setup issues limited available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07008"/>
            <a:ext cx="4023360" cy="3383280"/>
          </a:xfrm>
          <a:prstGeom prst="rect">
            <a:avLst/>
          </a:prstGeom>
          <a:solidFill>
            <a:srgbClr val="132A4A"/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07008"/>
            <a:ext cx="40233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07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 + 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1,757-sample real-world solar dataset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Physics-consistent correlations validated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full operating range (0–1,200 W/m²)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trains in seconds once data is ready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2514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validates physics  |  Real-world dataset enables robust ML training  |  Both are complementary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DATASET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8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192024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52728"/>
            <a:ext cx="19202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68478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207008"/>
            <a:ext cx="192024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252728"/>
            <a:ext cx="19202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168478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207008"/>
            <a:ext cx="192024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52728"/>
            <a:ext cx="19202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68478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1207008"/>
            <a:ext cx="192024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252728"/>
            <a:ext cx="19202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168478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304288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304288"/>
            <a:ext cx="26060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" y="2395728"/>
            <a:ext cx="164592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FEATURE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1208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irradiation_wm2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W/m²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1208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power per unit area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on panel surface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" y="3767328"/>
            <a:ext cx="237744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813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0.979 with T_max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304288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304288"/>
            <a:ext cx="2606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0128" y="2395728"/>
            <a:ext cx="164592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FEATURE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10128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ambient_temp_k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0128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 (K)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10128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temperature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 the panel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10128" y="3767328"/>
            <a:ext cx="237744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813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0.631 with T_max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2304288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89320" y="2304288"/>
            <a:ext cx="26060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9048" y="2395728"/>
            <a:ext cx="164592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9048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099048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max_temp_k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99048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 (K)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99048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temperature attained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PV panel (TARGET)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99048" y="3767328"/>
            <a:ext cx="237744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9048" y="3813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~285–380 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APEX_Master_Dataset_noisy_v2.csv  |  Physics-informed synthetic dataset with real-world solar operating conditions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PREPROCESSING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9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19202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34440"/>
            <a:ext cx="192024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47218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Cleaning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1208" y="199339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01168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1,757 rows loaded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CSV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" y="281635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83464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auto-standardised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(lowercase, strip)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" y="363931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65760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95144" y="2423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514600" y="1234440"/>
            <a:ext cx="19202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14600" y="1234440"/>
            <a:ext cx="192024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147218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24328" y="199339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201168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(X):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irradiation_wm2,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ambient_temp_k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24328" y="281635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283464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(y):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max_temp_k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24328" y="363931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9192" y="365760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r = 0.979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 = 0.631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98264" y="2423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617720" y="1234440"/>
            <a:ext cx="19202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1234440"/>
            <a:ext cx="192024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147218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27448" y="199339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201168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→ 1,405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27448" y="281635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283464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 → 352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27448" y="363931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365760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(reproducible)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01384" y="2423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720840" y="1234440"/>
            <a:ext cx="19202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20840" y="1234440"/>
            <a:ext cx="192024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12280" y="147218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30568" y="199339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85432" y="201168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zero-mean, unit-var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30568" y="281635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85432" y="283464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to: KNN,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only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30568" y="3639312"/>
            <a:ext cx="1664208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85432" y="365760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data leakage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Scaler fit on training data only → applied to test set → prevents data leakage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ML MODELS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Used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10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07008"/>
            <a:ext cx="26060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1335024"/>
            <a:ext cx="118872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35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21208" y="15910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" y="20299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T_max as weighted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irradiation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temp. Interpretable.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207008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207008"/>
            <a:ext cx="260604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1335024"/>
            <a:ext cx="1188720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335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10128" y="15910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(RBF kernel)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20299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ε-insensitive tube.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 handles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patterns.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9320" y="1207008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207008"/>
            <a:ext cx="2606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9048" y="1335024"/>
            <a:ext cx="118872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1335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099048" y="15910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 = 5)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99048" y="20299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from 5 nearest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in feature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space. Non-parametric.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035808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035808"/>
            <a:ext cx="26060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" y="3163824"/>
            <a:ext cx="118872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31638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21208" y="3419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" y="38587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 splits.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but prone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overfitting.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3035808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035808"/>
            <a:ext cx="260604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128" y="3163824"/>
            <a:ext cx="118872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1638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Ensemble-boost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310128" y="3419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estimators)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10128" y="38587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ensemble.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hard samples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89320" y="3035808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89320" y="3035808"/>
            <a:ext cx="26060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9048" y="3163824"/>
            <a:ext cx="11887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9048" y="31638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Ensemble-bag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099048" y="3419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(200 trees)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99048" y="38587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ensemble.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200 trees,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Comparison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11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192024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52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(5-fold)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96312" y="1234440"/>
            <a:ext cx="1920240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252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87752" y="1572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unseen data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81144" y="1234440"/>
            <a:ext cx="192024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252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(K)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72584" y="1572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 Kelvin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65976" y="1234440"/>
            <a:ext cx="1920240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1252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(K)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57416" y="1572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more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2084832"/>
            <a:ext cx="219456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848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2084832"/>
            <a:ext cx="109728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03320" y="2084832"/>
            <a:ext cx="9144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0848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084832"/>
            <a:ext cx="109728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2084832"/>
            <a:ext cx="123444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(K)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2084832"/>
            <a:ext cx="123444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(K)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395728"/>
            <a:ext cx="2194560" cy="365760"/>
          </a:xfrm>
          <a:prstGeom prst="rect">
            <a:avLst/>
          </a:prstGeom>
          <a:solidFill>
            <a:srgbClr val="E8F5E9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2395728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395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06040" y="2395728"/>
            <a:ext cx="1097280" cy="365760"/>
          </a:xfrm>
          <a:prstGeom prst="rect">
            <a:avLst/>
          </a:prstGeom>
          <a:solidFill>
            <a:srgbClr val="E8F5E9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23957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03320" y="2395728"/>
            <a:ext cx="914400" cy="365760"/>
          </a:xfrm>
          <a:prstGeom prst="rect">
            <a:avLst/>
          </a:prstGeom>
          <a:solidFill>
            <a:srgbClr val="E8F5E9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23957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±0.0024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2395728"/>
            <a:ext cx="1097280" cy="365760"/>
          </a:xfrm>
          <a:prstGeom prst="rect">
            <a:avLst/>
          </a:prstGeom>
          <a:solidFill>
            <a:srgbClr val="E8F5E9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3957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0.9641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15000" y="2395728"/>
            <a:ext cx="1234440" cy="365760"/>
          </a:xfrm>
          <a:prstGeom prst="rect">
            <a:avLst/>
          </a:prstGeom>
          <a:solidFill>
            <a:srgbClr val="E8F5E9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239572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49440" y="2395728"/>
            <a:ext cx="1234440" cy="365760"/>
          </a:xfrm>
          <a:prstGeom prst="rect">
            <a:avLst/>
          </a:prstGeom>
          <a:solidFill>
            <a:srgbClr val="E8F5E9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239572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2761488"/>
            <a:ext cx="219456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27614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(RBF kernel)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606040" y="2761488"/>
            <a:ext cx="109728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51760" y="27614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03320" y="2761488"/>
            <a:ext cx="91440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27614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±0.0023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17720" y="2761488"/>
            <a:ext cx="109728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27614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0.9635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715000" y="2761488"/>
            <a:ext cx="123444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276148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3.44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49440" y="2761488"/>
            <a:ext cx="123444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95160" y="276148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11480" y="3127248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31272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606040" y="3127248"/>
            <a:ext cx="1097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51760" y="31272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0.9641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703320" y="3127248"/>
            <a:ext cx="914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49040" y="31272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±0.0019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17720" y="3127248"/>
            <a:ext cx="1097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31272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0.9577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715000" y="3127248"/>
            <a:ext cx="1234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0720" y="312724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949440" y="3127248"/>
            <a:ext cx="1234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95160" y="312724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4.67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11480" y="3493008"/>
            <a:ext cx="219456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3493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606040" y="3493008"/>
            <a:ext cx="109728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51760" y="34930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0.9634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703320" y="3493008"/>
            <a:ext cx="91440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49040" y="34930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±0.0025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617720" y="3493008"/>
            <a:ext cx="109728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3440" y="34930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0.9572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715000" y="3493008"/>
            <a:ext cx="123444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60720" y="349300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3.70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949440" y="3493008"/>
            <a:ext cx="123444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95160" y="349300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4.70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11480" y="3858768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" y="38587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606040" y="3858768"/>
            <a:ext cx="1097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651760" y="38587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0.9623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703320" y="3858768"/>
            <a:ext cx="914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749040" y="38587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±0.0016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617720" y="3858768"/>
            <a:ext cx="1097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63440" y="38587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0.9519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715000" y="3858768"/>
            <a:ext cx="1234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760720" y="38587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3.97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949440" y="3858768"/>
            <a:ext cx="1234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95160" y="38587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4.98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11480" y="4224528"/>
            <a:ext cx="219456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02920" y="42245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606040" y="4224528"/>
            <a:ext cx="109728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651760" y="42245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0.9363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703320" y="4224528"/>
            <a:ext cx="91440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749040" y="42245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±0.0030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617720" y="4224528"/>
            <a:ext cx="109728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663440" y="42245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0.9347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5715000" y="4224528"/>
            <a:ext cx="123444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760720" y="422452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4.45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949440" y="4224528"/>
            <a:ext cx="1234440" cy="365760"/>
          </a:xfrm>
          <a:prstGeom prst="rect">
            <a:avLst/>
          </a:prstGeom>
          <a:solidFill>
            <a:srgbClr val="F5F7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95160" y="422452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5.80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Model: Multiple Linear Regression  |  Test R² = 0.9641  |  MAE = 3.43 K  |  RMSE = 4.30 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Best Model Performance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12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1920240" cy="1097280"/>
          </a:xfrm>
          <a:prstGeom prst="rect">
            <a:avLst/>
          </a:prstGeom>
          <a:solidFill>
            <a:srgbClr val="0B1F3A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0.9641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96.41% variance explained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1920240" cy="1097280"/>
          </a:xfrm>
          <a:prstGeom prst="rect">
            <a:avLst/>
          </a:prstGeom>
          <a:solidFill>
            <a:srgbClr val="0B1F3A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3.43 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14600" y="1783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Abs. Error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19933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1920240" cy="1097280"/>
          </a:xfrm>
          <a:prstGeom prst="rect">
            <a:avLst/>
          </a:prstGeom>
          <a:solidFill>
            <a:srgbClr val="0B1F3A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4.30 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1783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19933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error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20840" y="1234440"/>
            <a:ext cx="1920240" cy="1097280"/>
          </a:xfrm>
          <a:prstGeom prst="rect">
            <a:avLst/>
          </a:prstGeom>
          <a:solidFill>
            <a:srgbClr val="0B1F3A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1783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(mean)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20840" y="19933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8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11480" y="2487168"/>
          <a:ext cx="4206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4663440" y="2487168"/>
          <a:ext cx="4069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13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use predicted temperature?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3931920" cy="1572768"/>
          </a:xfrm>
          <a:prstGeom prst="rect">
            <a:avLst/>
          </a:prstGeom>
          <a:solidFill>
            <a:srgbClr val="132A4A"/>
          </a:solidFill>
          <a:ln w="9525">
            <a:solidFill>
              <a:srgbClr val="E651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61872"/>
            <a:ext cx="393192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98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Efficiency Loss Estimation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P(T) = P_STC × [1 + γ(T_max − 298)]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−0.0045/K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350 K → ~23% power loss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261872"/>
            <a:ext cx="3931920" cy="1572768"/>
          </a:xfrm>
          <a:prstGeom prst="rect">
            <a:avLst/>
          </a:prstGeom>
          <a:solidFill>
            <a:srgbClr val="132A4A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261872"/>
            <a:ext cx="393192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898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Overheating Detection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predicted vs threshold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370 K). Alert if breached.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cell degradation early.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44952"/>
            <a:ext cx="3931920" cy="1572768"/>
          </a:xfrm>
          <a:prstGeom prst="rect">
            <a:avLst/>
          </a:prstGeom>
          <a:solidFill>
            <a:srgbClr val="132A4A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44952"/>
            <a:ext cx="393192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729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Real-Time Onboard Prediction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sensor inputs needed.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runs on ARM CPUs.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thermal state monitoring.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3044952"/>
            <a:ext cx="3931920" cy="1572768"/>
          </a:xfrm>
          <a:prstGeom prst="rect">
            <a:avLst/>
          </a:prstGeom>
          <a:solidFill>
            <a:srgbClr val="132A4A"/>
          </a:solidFill>
          <a:ln w="9525">
            <a:solidFill>
              <a:srgbClr val="0089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3044952"/>
            <a:ext cx="393192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729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Design Optimisation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1,000s of configurations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seconds. Replace repeated CFD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design iteration.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DASHBOARD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Web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14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120640" cy="3291840"/>
          </a:xfrm>
          <a:prstGeom prst="rect">
            <a:avLst/>
          </a:prstGeom>
          <a:solidFill>
            <a:srgbClr val="0B1F3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887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 Screenshot 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Solar · ML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Max Temperature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Dashboard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0.9641  |  MAE = 3.425 K  |  RMSE = 4.303 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508760"/>
            <a:ext cx="3017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508760"/>
            <a:ext cx="54864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179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Surface Plot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169164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irradiation × T_amb vs T_max surface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60720" y="1984248"/>
            <a:ext cx="3017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984248"/>
            <a:ext cx="54864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993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2167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all 6 models in real-time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60720" y="2459736"/>
            <a:ext cx="3017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2459736"/>
            <a:ext cx="54864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4688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64261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plot for test set accuracy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60720" y="2935224"/>
            <a:ext cx="3017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2935224"/>
            <a:ext cx="54864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29443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View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11810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distribution analysis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60720" y="3410712"/>
            <a:ext cx="3017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3410712"/>
            <a:ext cx="54864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341985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Overview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935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MAE, RMSE cards side-by-side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60720" y="3886200"/>
            <a:ext cx="3017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3886200"/>
            <a:ext cx="54864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89534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Ranking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0690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table with quality badges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>
            <a:hlinkClick r:id="rId1" tooltip=""/>
          </p:cNvPr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manogna210524.github.io/Aerodynamic-Heating-on-Satellite-Solar-Panels/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15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749808"/>
          </a:xfrm>
          <a:prstGeom prst="rect">
            <a:avLst/>
          </a:prstGeom>
          <a:solidFill>
            <a:srgbClr val="132A4A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98448"/>
            <a:ext cx="41148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 simulation confirmed silicon cells as the primary heat source, with radiation to deep space as the only cooling path — validating the feature importance found by ML.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185416"/>
            <a:ext cx="8321040" cy="749808"/>
          </a:xfrm>
          <a:prstGeom prst="rect">
            <a:avLst/>
          </a:prstGeom>
          <a:solidFill>
            <a:srgbClr val="132A4A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85416"/>
            <a:ext cx="41148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85416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258568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achieved the best performance (Test R² = 0.9641, MAE = 3.43 K, CV R² = 0.9708 ± 0.0024) — explaining 96.4% of panel temperature variance.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072384"/>
            <a:ext cx="8321040" cy="749808"/>
          </a:xfrm>
          <a:prstGeom prst="rect">
            <a:avLst/>
          </a:prstGeom>
          <a:solidFill>
            <a:srgbClr val="132A4A"/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72384"/>
            <a:ext cx="411480" cy="7498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72384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145536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models achieved R² &gt; 0.93, confirming that irradiation and ambient temperature are sufficient predictors of panel maximum temperature.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959352"/>
            <a:ext cx="8321040" cy="749808"/>
          </a:xfrm>
          <a:prstGeom prst="rect">
            <a:avLst/>
          </a:prstGeom>
          <a:solidFill>
            <a:srgbClr val="132A4A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959352"/>
            <a:ext cx="41148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59352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032504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was deployed on GitHub Pages, enabling real-time thermal prediction and visual comparison of all 6 models.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37744"/>
          </a:xfrm>
          <a:prstGeom prst="rect">
            <a:avLst>
              <a:gd name="adj" fmla="val 1538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FUTURE SCOPE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16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34440"/>
            <a:ext cx="397764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CFD + ML Integration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parametric ANSYS sweep (irradiation 200–1,400 W/m², temp 260–320 K) → generate high-fidelity CFD dataset → train true CFD surrogate model.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34440"/>
            <a:ext cx="3977640" cy="640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Neural Network Surrogate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76479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feedforward network (2 → 64 → 64 → 1) to better capture nonlinear thermal behaviour at high irradiation values (&gt; 1,000 W/m²).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10896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108960"/>
            <a:ext cx="397764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  Onboard Spacecraft Implementation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63931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trained MLR to C/C++ for radiation-hardened ARM processors. Only 2 multiply-add ops — negligible compute overhead for continuous monitoring.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08960"/>
            <a:ext cx="397764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Physics-Informed ML (PIML)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63931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Stefan-Boltzmann radiation balance as a training constraint → improved extrapolation beyond training data range.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41148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1737360" cy="777240"/>
          </a:xfrm>
          <a:prstGeom prst="rect">
            <a:avLst/>
          </a:prstGeom>
          <a:solidFill>
            <a:srgbClr val="132A4A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samples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06040" y="2743200"/>
            <a:ext cx="1737360" cy="777240"/>
          </a:xfrm>
          <a:prstGeom prst="rect">
            <a:avLst/>
          </a:prstGeom>
          <a:solidFill>
            <a:srgbClr val="132A4A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6040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2743200"/>
            <a:ext cx="1737360" cy="777240"/>
          </a:xfrm>
          <a:prstGeom prst="rect">
            <a:avLst/>
          </a:prstGeom>
          <a:solidFill>
            <a:srgbClr val="132A4A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0.9641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R²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29400" y="2743200"/>
            <a:ext cx="1737360" cy="777240"/>
          </a:xfrm>
          <a:prstGeom prst="rect">
            <a:avLst/>
          </a:prstGeom>
          <a:solidFill>
            <a:srgbClr val="132A4A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3.43 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</a:t>
            </a:r>
            <a:endParaRPr lang="en-US" sz="850" dirty="0"/>
          </a:p>
        </p:txBody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59436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manogna210524.github.io/Aerodynamic-Heating-on-Satellite-Solar-Panels/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 |  B.Tech Project 2025–26  |  Ramaraju · Sri Varsha · Manogna · Praneetha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- ML Prediction of Aerodynamic Heating on Satellite Solar Panels</dc:title>
  <dc:subject>PptxGenJS Presentation</dc:subject>
  <dc:creator>PptxGenJS</dc:creator>
  <cp:lastModifiedBy>PptxGenJS</cp:lastModifiedBy>
  <cp:revision>1</cp:revision>
  <dcterms:created xsi:type="dcterms:W3CDTF">2026-04-18T16:30:27Z</dcterms:created>
  <dcterms:modified xsi:type="dcterms:W3CDTF">2026-04-18T16:30:27Z</dcterms:modified>
</cp:coreProperties>
</file>